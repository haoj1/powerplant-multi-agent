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13"/>
  </p:normalViewPr>
  <p:slideViewPr>
    <p:cSldViewPr snapToGrid="0" snapToObjects="1">
      <p:cViewPr varScale="1">
        <p:scale>
          <a:sx n="108" d="100"/>
          <a:sy n="108" d="100"/>
        </p:scale>
        <p:origin x="166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3454" y="1448789"/>
            <a:ext cx="7641771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/>
            </a:pPr>
            <a:r>
              <a:rPr dirty="0"/>
              <a:t>Multi-Agent Powerplant Monitoring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07226" y="3681350"/>
            <a:ext cx="597922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/>
            </a:pPr>
            <a:r>
              <a:rPr dirty="0"/>
              <a:t>Real-time Anomaly Detection, Root Cause Analysis &amp; Human-in-the-Loop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Presentation Outline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1. Why This Project?</a:t>
            </a:r>
          </a:p>
          <a:p>
            <a:pPr>
              <a:spcAft>
                <a:spcPts val="1200"/>
              </a:spcAft>
              <a:defRPr sz="1800"/>
            </a:pPr>
            <a:r>
              <a:t>2. Importance &amp; Motivation</a:t>
            </a:r>
          </a:p>
          <a:p>
            <a:pPr>
              <a:spcAft>
                <a:spcPts val="1200"/>
              </a:spcAft>
              <a:defRPr sz="1800"/>
            </a:pPr>
            <a:r>
              <a:t>3. Problems We Solve</a:t>
            </a:r>
          </a:p>
          <a:p>
            <a:pPr>
              <a:spcAft>
                <a:spcPts val="1200"/>
              </a:spcAft>
              <a:defRPr sz="1800"/>
            </a:pPr>
            <a:r>
              <a:t>4. System Architecture</a:t>
            </a:r>
          </a:p>
          <a:p>
            <a:pPr>
              <a:spcAft>
                <a:spcPts val="1200"/>
              </a:spcAft>
              <a:defRPr sz="1800"/>
            </a:pPr>
            <a:r>
              <a:t>5. Agent Roles &amp; Data Flow</a:t>
            </a:r>
          </a:p>
          <a:p>
            <a:pPr>
              <a:spcAft>
                <a:spcPts val="1200"/>
              </a:spcAft>
              <a:defRPr sz="1800"/>
            </a:pPr>
            <a:r>
              <a:t>6. Key Features &amp; Demo</a:t>
            </a:r>
          </a:p>
          <a:p>
            <a:pPr>
              <a:spcAft>
                <a:spcPts val="1200"/>
              </a:spcAft>
              <a:defRPr sz="1800"/>
            </a:pPr>
            <a:r>
              <a:t>7. Technology Stack</a:t>
            </a:r>
          </a:p>
          <a:p>
            <a:pPr>
              <a:spcAft>
                <a:spcPts val="1200"/>
              </a:spcAft>
              <a:defRPr sz="1800"/>
            </a:pPr>
            <a:r>
              <a:t>8. Conclusion &amp;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Why We Chose This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Combines multiple cutting-edge areas: Multi-Agent Systems, IoT, LLM/AI</a:t>
            </a:r>
          </a:p>
          <a:p>
            <a:pPr>
              <a:spcAft>
                <a:spcPts val="1200"/>
              </a:spcAft>
              <a:defRPr sz="1800"/>
            </a:pPr>
            <a:r>
              <a:t>• Practical industrial application: powerplant asset monitoring</a:t>
            </a:r>
          </a:p>
          <a:p>
            <a:pPr>
              <a:spcAft>
                <a:spcPts val="1200"/>
              </a:spcAft>
              <a:defRPr sz="1800"/>
            </a:pPr>
            <a:r>
              <a:t>• End-to-end pipeline: from raw sensors to human-approved tickets</a:t>
            </a:r>
          </a:p>
          <a:p>
            <a:pPr>
              <a:spcAft>
                <a:spcPts val="1200"/>
              </a:spcAft>
              <a:defRPr sz="1800"/>
            </a:pPr>
            <a:r>
              <a:t>• Human-in-the-loop design ensures safety and accountability</a:t>
            </a:r>
          </a:p>
          <a:p>
            <a:pPr>
              <a:spcAft>
                <a:spcPts val="1200"/>
              </a:spcAft>
              <a:defRPr sz="1800"/>
            </a:pPr>
            <a:r>
              <a:t>• Extensible: rules, RAG, Salesforce integration, multimodal (3D + VLM)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Importance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Industrial IoT generates massive sensor data; manual monitoring is costly</a:t>
            </a:r>
          </a:p>
          <a:p>
            <a:pPr>
              <a:spcAft>
                <a:spcPts val="1200"/>
              </a:spcAft>
              <a:defRPr sz="1800"/>
            </a:pPr>
            <a:r>
              <a:t>• Early anomaly detection prevents equipment failure and downtime</a:t>
            </a:r>
          </a:p>
          <a:p>
            <a:pPr>
              <a:spcAft>
                <a:spcPts val="1200"/>
              </a:spcAft>
              <a:defRPr sz="1800"/>
            </a:pPr>
            <a:r>
              <a:t>• Root cause analysis (RCA) reduces mean-time-to-repair (MTTR)</a:t>
            </a:r>
          </a:p>
          <a:p>
            <a:pPr>
              <a:spcAft>
                <a:spcPts val="1200"/>
              </a:spcAft>
              <a:defRPr sz="1800"/>
            </a:pPr>
            <a:r>
              <a:t>• Automated ticket creation streamlines maintenance workflows</a:t>
            </a:r>
          </a:p>
          <a:p>
            <a:pPr>
              <a:spcAft>
                <a:spcPts val="1200"/>
              </a:spcAft>
              <a:defRPr sz="1800"/>
            </a:pPr>
            <a:r>
              <a:t>• Human review loop maintains quality and builds trust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Problems We Solve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Real-time anomaly detection from streaming telemetry</a:t>
            </a:r>
          </a:p>
          <a:p>
            <a:pPr>
              <a:spcAft>
                <a:spcPts val="1200"/>
              </a:spcAft>
              <a:defRPr sz="1800"/>
            </a:pPr>
            <a:r>
              <a:t>• Interpretable root cause diagnosis (not black-box)</a:t>
            </a:r>
          </a:p>
          <a:p>
            <a:pPr>
              <a:spcAft>
                <a:spcPts val="1200"/>
              </a:spcAft>
              <a:defRPr sz="1800"/>
            </a:pPr>
            <a:r>
              <a:t>• Automated ticket creation with evidence and recommended actions</a:t>
            </a:r>
          </a:p>
          <a:p>
            <a:pPr>
              <a:spcAft>
                <a:spcPts val="1200"/>
              </a:spcAft>
              <a:defRPr sz="1800"/>
            </a:pPr>
            <a:r>
              <a:t>• Human review interface with approve/reject/edit</a:t>
            </a:r>
          </a:p>
          <a:p>
            <a:pPr>
              <a:spcAft>
                <a:spcPts val="1200"/>
              </a:spcAft>
              <a:defRPr sz="1800"/>
            </a:pPr>
            <a:r>
              <a:t>• Integration with external systems (e.g., Salesforce)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Key 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Low latency: detect and diagnose within seconds</a:t>
            </a:r>
          </a:p>
          <a:p>
            <a:pPr>
              <a:spcAft>
                <a:spcPts val="1200"/>
              </a:spcAft>
              <a:defRPr sz="1800"/>
            </a:pPr>
            <a:r>
              <a:t>• Explainability: evidence and rules, not just predictions</a:t>
            </a:r>
          </a:p>
          <a:p>
            <a:pPr>
              <a:spcAft>
                <a:spcPts val="1200"/>
              </a:spcAft>
              <a:defRPr sz="1800"/>
            </a:pPr>
            <a:r>
              <a:t>• Scalability: multiple assets, MQTT pub/sub</a:t>
            </a:r>
          </a:p>
          <a:p>
            <a:pPr>
              <a:spcAft>
                <a:spcPts val="1200"/>
              </a:spcAft>
              <a:defRPr sz="1800"/>
            </a:pPr>
            <a:r>
              <a:t>• Reproducibility: fault injection, scenario-driven testing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Problem Domain: Industrial IoT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Powerplants, pumps, bearings, valves generate continuous sensor data</a:t>
            </a:r>
          </a:p>
          <a:p>
            <a:pPr>
              <a:spcAft>
                <a:spcPts val="1200"/>
              </a:spcAft>
              <a:defRPr sz="1800"/>
            </a:pPr>
            <a:r>
              <a:t>• Pressure, flow, temperature, vibration, motor current, etc.</a:t>
            </a:r>
          </a:p>
          <a:p>
            <a:pPr>
              <a:spcAft>
                <a:spcPts val="1200"/>
              </a:spcAft>
              <a:defRPr sz="1800"/>
            </a:pPr>
            <a:r>
              <a:t>• Faults: bearing wear, clogging, valve stuck, sensor drift</a:t>
            </a:r>
          </a:p>
          <a:p>
            <a:pPr>
              <a:spcAft>
                <a:spcPts val="1200"/>
              </a:spcAft>
              <a:defRPr sz="1800"/>
            </a:pPr>
            <a:r>
              <a:t>• Early detection prevents costly downtime and safety incidents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Our Approach: Multi-Agent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4 specialized agents + Simulator, coordinated via MQTT</a:t>
            </a:r>
          </a:p>
          <a:p>
            <a:pPr>
              <a:spcAft>
                <a:spcPts val="1200"/>
              </a:spcAft>
              <a:defRPr sz="1800"/>
            </a:pPr>
            <a:r>
              <a:t>• Agent A: Threshold / Z-score anomaly detection</a:t>
            </a:r>
          </a:p>
          <a:p>
            <a:pPr>
              <a:spcAft>
                <a:spcPts val="1200"/>
              </a:spcAft>
              <a:defRPr sz="1800"/>
            </a:pPr>
            <a:r>
              <a:t>• Agent B: Rule-based + LLM (ReAct) diagnosis</a:t>
            </a:r>
          </a:p>
          <a:p>
            <a:pPr>
              <a:spcAft>
                <a:spcPts val="1200"/>
              </a:spcAft>
              <a:defRPr sz="1800"/>
            </a:pPr>
            <a:r>
              <a:t>• Agent C: Ticket creation (GitHub Issues / local)</a:t>
            </a:r>
          </a:p>
          <a:p>
            <a:pPr>
              <a:spcAft>
                <a:spcPts val="1200"/>
              </a:spcAft>
              <a:defRPr sz="1800"/>
            </a:pPr>
            <a:r>
              <a:t>• Agent D: Human review, feedback, Salesforce Case creation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System Architecture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097280"/>
            <a:ext cx="3657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09728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Simulator: Generates telemetry, injects faults (bearing_wear, clogging, etc.)</a:t>
            </a:r>
          </a:p>
          <a:p>
            <a:pPr>
              <a:spcAft>
                <a:spcPts val="1200"/>
              </a:spcAft>
              <a:defRPr sz="1800"/>
            </a:pPr>
            <a:r>
              <a:t>• MQTT: Message bus for telemetry, alerts, diagnosis, tickets</a:t>
            </a:r>
          </a:p>
          <a:p>
            <a:pPr>
              <a:spcAft>
                <a:spcPts val="1200"/>
              </a:spcAft>
              <a:defRPr sz="1800"/>
            </a:pPr>
            <a:r>
              <a:t>• Agents: Subscribe/publish, stateless, scalable</a:t>
            </a:r>
          </a:p>
          <a:p>
            <a:pPr>
              <a:spcAft>
                <a:spcPts val="1200"/>
              </a:spcAft>
              <a:defRPr sz="1800"/>
            </a:pPr>
            <a:r>
              <a:t>• Agent D Dashboard: React frontend for review, chat, scenarios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Architecture Diagram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097280"/>
            <a:ext cx="3657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09728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Simulator publishes telemetry to MQTT.</a:t>
            </a:r>
          </a:p>
          <a:p>
            <a:pPr>
              <a:spcAft>
                <a:spcPts val="1200"/>
              </a:spcAft>
              <a:defRPr sz="1800"/>
            </a:pPr>
            <a:r>
              <a:t>Agent A detects anomalies → alerts.</a:t>
            </a:r>
          </a:p>
          <a:p>
            <a:pPr>
              <a:spcAft>
                <a:spcPts val="1200"/>
              </a:spcAft>
              <a:defRPr sz="1800"/>
            </a:pPr>
            <a:r>
              <a:t>Agent B performs RCA → diagnosis.</a:t>
            </a:r>
          </a:p>
          <a:p>
            <a:pPr>
              <a:spcAft>
                <a:spcPts val="1200"/>
              </a:spcAft>
              <a:defRPr sz="1800"/>
            </a:pPr>
            <a:r>
              <a:t>Agent C creates tickets.</a:t>
            </a:r>
          </a:p>
          <a:p>
            <a:pPr>
              <a:spcAft>
                <a:spcPts val="1200"/>
              </a:spcAft>
              <a:defRPr sz="1800"/>
            </a:pPr>
            <a:r>
              <a:t>Agent D provides human review and feedback.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Agent A: Monitor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Subscribes to telemetry/*</a:t>
            </a:r>
          </a:p>
          <a:p>
            <a:pPr>
              <a:spcAft>
                <a:spcPts val="1200"/>
              </a:spcAft>
              <a:defRPr sz="1800"/>
            </a:pPr>
            <a:r>
              <a:t>• Sliding window (60s/120s) features: mean, std, slope</a:t>
            </a:r>
          </a:p>
          <a:p>
            <a:pPr>
              <a:spcAft>
                <a:spcPts val="1200"/>
              </a:spcAft>
              <a:defRPr sz="1800"/>
            </a:pPr>
            <a:r>
              <a:t>• Z-score anomaly detection per signal</a:t>
            </a:r>
          </a:p>
          <a:p>
            <a:pPr>
              <a:spcAft>
                <a:spcPts val="1200"/>
              </a:spcAft>
              <a:defRPr sz="1800"/>
            </a:pPr>
            <a:r>
              <a:t>• Publishes AlertEvent with evidence to alerts/*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Agent B: Diagnosis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Subscribes to alerts, fetches telemetry history</a:t>
            </a:r>
          </a:p>
          <a:p>
            <a:pPr>
              <a:spcAft>
                <a:spcPts val="1200"/>
              </a:spcAft>
              <a:defRPr sz="1800"/>
            </a:pPr>
            <a:r>
              <a:t>• Rule-based + LLM (ReAct) for root cause analysis</a:t>
            </a:r>
          </a:p>
          <a:p>
            <a:pPr>
              <a:spcAft>
                <a:spcPts val="1200"/>
              </a:spcAft>
              <a:defRPr sz="1800"/>
            </a:pPr>
            <a:r>
              <a:t>• Outputs: root_cause, confidence, recommended_actions, evidence</a:t>
            </a:r>
          </a:p>
          <a:p>
            <a:pPr>
              <a:spcAft>
                <a:spcPts val="1200"/>
              </a:spcAft>
              <a:defRPr sz="1800"/>
            </a:pPr>
            <a:r>
              <a:t>• Rules: bearing_wear, clogging, valve_stuck, sensor_drift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Agent C: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Subscribes to diagnosis</a:t>
            </a:r>
          </a:p>
          <a:p>
            <a:pPr>
              <a:spcAft>
                <a:spcPts val="1200"/>
              </a:spcAft>
              <a:defRPr sz="1800"/>
            </a:pPr>
            <a:r>
              <a:t>• Creates tickets (GitHub Issues or local API)</a:t>
            </a:r>
          </a:p>
          <a:p>
            <a:pPr>
              <a:spcAft>
                <a:spcPts val="1200"/>
              </a:spcAft>
              <a:defRPr sz="1800"/>
            </a:pPr>
            <a:r>
              <a:t>• Publishes ticket_id to MQTT</a:t>
            </a:r>
          </a:p>
          <a:p>
            <a:pPr>
              <a:spcAft>
                <a:spcPts val="1200"/>
              </a:spcAft>
              <a:defRPr sz="1800"/>
            </a:pPr>
            <a:r>
              <a:t>• Queues for Agent D review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Agent D: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Human review interface (approve / reject / edit)</a:t>
            </a:r>
          </a:p>
          <a:p>
            <a:pPr>
              <a:spcAft>
                <a:spcPts val="1200"/>
              </a:spcAft>
              <a:defRPr sz="1800"/>
            </a:pPr>
            <a:r>
              <a:t>• Chat assistant with RAG (similar cases, rules, feedback)</a:t>
            </a:r>
          </a:p>
          <a:p>
            <a:pPr>
              <a:spcAft>
                <a:spcPts val="1200"/>
              </a:spcAft>
              <a:defRPr sz="1800"/>
            </a:pPr>
            <a:r>
              <a:t>• Optional: Create Salesforce Case on approve</a:t>
            </a:r>
          </a:p>
          <a:p>
            <a:pPr>
              <a:spcAft>
                <a:spcPts val="1200"/>
              </a:spcAft>
              <a:defRPr sz="1800"/>
            </a:pPr>
            <a:r>
              <a:t>• Scenario management: load, start, stop fault scenarios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Data Flow</a:t>
            </a:r>
          </a:p>
        </p:txBody>
      </p:sp>
      <p:pic>
        <p:nvPicPr>
          <p:cNvPr id="3" name="Picture 2" descr="data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097280"/>
            <a:ext cx="3657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09728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Telemetry → Alerts → Diagnosis → Ticket → Feedback</a:t>
            </a:r>
          </a:p>
          <a:p>
            <a:pPr>
              <a:spcAft>
                <a:spcPts val="1200"/>
              </a:spcAft>
              <a:defRPr sz="1800"/>
            </a:pPr>
            <a:r>
              <a:t>Each step adds structure and context.</a:t>
            </a:r>
          </a:p>
          <a:p>
            <a:pPr>
              <a:spcAft>
                <a:spcPts val="1200"/>
              </a:spcAft>
              <a:defRPr sz="1800"/>
            </a:pPr>
            <a:r>
              <a:t>Feedback can update rules and thresholds.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MQTT Message Bus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Lightweight pub/sub for real-time streaming</a:t>
            </a:r>
          </a:p>
          <a:p>
            <a:pPr>
              <a:spcAft>
                <a:spcPts val="1200"/>
              </a:spcAft>
              <a:defRPr sz="1800"/>
            </a:pPr>
            <a:r>
              <a:t>• Topics: telemetry/{asset}, alerts/{asset}, diagnosis/{asset}, tickets/{asset}</a:t>
            </a:r>
          </a:p>
          <a:p>
            <a:pPr>
              <a:spcAft>
                <a:spcPts val="1200"/>
              </a:spcAft>
              <a:defRPr sz="1800"/>
            </a:pPr>
            <a:r>
              <a:t>• Decouples agents; each subscribes/publishes independently</a:t>
            </a:r>
          </a:p>
          <a:p>
            <a:pPr>
              <a:spcAft>
                <a:spcPts val="1200"/>
              </a:spcAft>
              <a:defRPr sz="1800"/>
            </a:pPr>
            <a:r>
              <a:t>• Mosquitto broker (Docker or standalone)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Simulator &amp; Fault Injection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Models pump/piping/bearing subsystem</a:t>
            </a:r>
          </a:p>
          <a:p>
            <a:pPr>
              <a:spcAft>
                <a:spcPts val="1200"/>
              </a:spcAft>
              <a:defRPr sz="1800"/>
            </a:pPr>
            <a:r>
              <a:t>• Fault types: bearing_wear, clogging, valve_stuck, sensor_drift</a:t>
            </a:r>
          </a:p>
          <a:p>
            <a:pPr>
              <a:spcAft>
                <a:spcPts val="1200"/>
              </a:spcAft>
              <a:defRPr sz="1800"/>
            </a:pPr>
            <a:r>
              <a:t>• JSON-driven scenarios, reproducible with seed</a:t>
            </a:r>
          </a:p>
          <a:p>
            <a:pPr>
              <a:spcAft>
                <a:spcPts val="1200"/>
              </a:spcAft>
              <a:defRPr sz="1800"/>
            </a:pPr>
            <a:r>
              <a:t>• Optional: 3D visualization + VLM for multimodal diagnosis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Supported Fault Types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bearing_wear: Gradual increase in vibration, bearing temp</a:t>
            </a:r>
          </a:p>
          <a:p>
            <a:pPr>
              <a:spcAft>
                <a:spcPts val="1200"/>
              </a:spcAft>
              <a:defRPr sz="1800"/>
            </a:pPr>
            <a:r>
              <a:t>• clogging: Flow drops, pressure rises, current increases</a:t>
            </a:r>
          </a:p>
          <a:p>
            <a:pPr>
              <a:spcAft>
                <a:spcPts val="1200"/>
              </a:spcAft>
              <a:defRPr sz="1800"/>
            </a:pPr>
            <a:r>
              <a:t>• valve_stuck: Valve position unchanged, flow unresponsive</a:t>
            </a:r>
          </a:p>
          <a:p>
            <a:pPr>
              <a:spcAft>
                <a:spcPts val="1200"/>
              </a:spcAft>
              <a:defRPr sz="1800"/>
            </a:pPr>
            <a:r>
              <a:t>• sensor_drift: Single sensor offset, others consistent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Agent D Dashboard Features</a:t>
            </a:r>
          </a:p>
        </p:txBody>
      </p:sp>
      <p:pic>
        <p:nvPicPr>
          <p:cNvPr id="3" name="Picture 2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097280"/>
            <a:ext cx="365760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09728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Review Queue: Pending diagnoses, approve/reject</a:t>
            </a:r>
          </a:p>
          <a:p>
            <a:pPr>
              <a:spcAft>
                <a:spcPts val="1200"/>
              </a:spcAft>
              <a:defRPr sz="1800"/>
            </a:pPr>
            <a:r>
              <a:t>• Alerts: View, regenerate diagnosis, add to queue</a:t>
            </a:r>
          </a:p>
          <a:p>
            <a:pPr>
              <a:spcAft>
                <a:spcPts val="1200"/>
              </a:spcAft>
              <a:defRPr sz="1800"/>
            </a:pPr>
            <a:r>
              <a:t>• Sensors: Real-time telemetry visualization</a:t>
            </a:r>
          </a:p>
          <a:p>
            <a:pPr>
              <a:spcAft>
                <a:spcPts val="1200"/>
              </a:spcAft>
              <a:defRPr sz="1800"/>
            </a:pPr>
            <a:r>
              <a:t>• Chat: ReAct assistant with RAG tools</a:t>
            </a:r>
          </a:p>
          <a:p>
            <a:pPr>
              <a:spcAft>
                <a:spcPts val="1200"/>
              </a:spcAft>
              <a:defRPr sz="1800"/>
            </a:pPr>
            <a:r>
              <a:t>• Scenarios: Load/start/stop simulator scenarios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Troubleshooting Rules &amp;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Rules stored in agent-diagnosis/rules/*.md</a:t>
            </a:r>
          </a:p>
          <a:p>
            <a:pPr>
              <a:spcAft>
                <a:spcPts val="1200"/>
              </a:spcAft>
              <a:defRPr sz="1800"/>
            </a:pPr>
            <a:r>
              <a:t>• Create from natural language (LLM) or flowchart upload (VLM)</a:t>
            </a:r>
          </a:p>
          <a:p>
            <a:pPr>
              <a:spcAft>
                <a:spcPts val="1200"/>
              </a:spcAft>
              <a:defRPr sz="1800"/>
            </a:pPr>
            <a:r>
              <a:t>• RAG: query similar diagnoses, alerts, feedback, rules</a:t>
            </a:r>
          </a:p>
          <a:p>
            <a:pPr>
              <a:spcAft>
                <a:spcPts val="1200"/>
              </a:spcAft>
              <a:defRPr sz="1800"/>
            </a:pPr>
            <a:r>
              <a:t>• Vector index (sqlite-vec + sentence-transformers)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Salesforce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On approve: optionally create Salesforce Case</a:t>
            </a:r>
          </a:p>
          <a:p>
            <a:pPr>
              <a:spcAft>
                <a:spcPts val="1200"/>
              </a:spcAft>
              <a:defRPr sz="1800"/>
            </a:pPr>
            <a:r>
              <a:t>• Pre-filled form: Subject, Description, Priority, Status, etc.</a:t>
            </a:r>
          </a:p>
          <a:p>
            <a:pPr>
              <a:spcAft>
                <a:spcPts val="1200"/>
              </a:spcAft>
              <a:defRPr sz="1800"/>
            </a:pPr>
            <a:r>
              <a:t>• Picklist values fetched from Salesforce org</a:t>
            </a:r>
          </a:p>
          <a:p>
            <a:pPr>
              <a:spcAft>
                <a:spcPts val="1200"/>
              </a:spcAft>
              <a:defRPr sz="1800"/>
            </a:pPr>
            <a:r>
              <a:t>• TicketConnector interface for extensibility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Backend: Python 3.11, FastAPI, pydantic</a:t>
            </a:r>
          </a:p>
          <a:p>
            <a:pPr>
              <a:spcAft>
                <a:spcPts val="1200"/>
              </a:spcAft>
              <a:defRPr sz="1800"/>
            </a:pPr>
            <a:r>
              <a:t>• Message bus: MQTT (Mosquitto)</a:t>
            </a:r>
          </a:p>
          <a:p>
            <a:pPr>
              <a:spcAft>
                <a:spcPts val="1200"/>
              </a:spcAft>
              <a:defRPr sz="1800"/>
            </a:pPr>
            <a:r>
              <a:t>• LLM: LangChain, LangGraph, OpenAI/DeepSeek</a:t>
            </a:r>
          </a:p>
          <a:p>
            <a:pPr>
              <a:spcAft>
                <a:spcPts val="1200"/>
              </a:spcAft>
              <a:defRPr sz="1800"/>
            </a:pPr>
            <a:r>
              <a:t>• Frontend: React, Vite</a:t>
            </a:r>
          </a:p>
          <a:p>
            <a:pPr>
              <a:spcAft>
                <a:spcPts val="1200"/>
              </a:spcAft>
              <a:defRPr sz="1800"/>
            </a:pPr>
            <a:r>
              <a:t>• RAG: sqlite-vec, sentence-transformers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Demo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1. Start MQTT, Simulator, Agents A/B/C/D</a:t>
            </a:r>
          </a:p>
          <a:p>
            <a:pPr>
              <a:spcAft>
                <a:spcPts val="1200"/>
              </a:spcAft>
              <a:defRPr sz="1800"/>
            </a:pPr>
            <a:r>
              <a:t>2. Load fault scenario (e.g., bearing_wear)</a:t>
            </a:r>
          </a:p>
          <a:p>
            <a:pPr>
              <a:spcAft>
                <a:spcPts val="1200"/>
              </a:spcAft>
              <a:defRPr sz="1800"/>
            </a:pPr>
            <a:r>
              <a:t>3. Simulator injects fault → Agent A detects → Agent B diagnoses</a:t>
            </a:r>
          </a:p>
          <a:p>
            <a:pPr>
              <a:spcAft>
                <a:spcPts val="1200"/>
              </a:spcAft>
              <a:defRPr sz="1800"/>
            </a:pPr>
            <a:r>
              <a:t>4. Agent C creates ticket → appears in Review Queue</a:t>
            </a:r>
          </a:p>
          <a:p>
            <a:pPr>
              <a:spcAft>
                <a:spcPts val="1200"/>
              </a:spcAft>
              <a:defRPr sz="1800"/>
            </a:pPr>
            <a:r>
              <a:t>5. Human approves, optionally creates Salesforce Case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Human-in-the-Loop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Agent D requires human approval before ticket closure</a:t>
            </a:r>
          </a:p>
          <a:p>
            <a:pPr>
              <a:spcAft>
                <a:spcPts val="1200"/>
              </a:spcAft>
              <a:defRPr sz="1800"/>
            </a:pPr>
            <a:r>
              <a:t>• Approve / Reject / Edit with notes</a:t>
            </a:r>
          </a:p>
          <a:p>
            <a:pPr>
              <a:spcAft>
                <a:spcPts val="1200"/>
              </a:spcAft>
              <a:defRPr sz="1800"/>
            </a:pPr>
            <a:r>
              <a:t>• Optional: Create Salesforce Case on approve</a:t>
            </a:r>
          </a:p>
          <a:p>
            <a:pPr>
              <a:spcAft>
                <a:spcPts val="1200"/>
              </a:spcAft>
              <a:defRPr sz="1800"/>
            </a:pPr>
            <a:r>
              <a:t>• Feedback feeds back into rules and RAG for improvement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Key Benefits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End-to-end automated pipeline</a:t>
            </a:r>
          </a:p>
          <a:p>
            <a:pPr>
              <a:spcAft>
                <a:spcPts val="1200"/>
              </a:spcAft>
              <a:defRPr sz="1800"/>
            </a:pPr>
            <a:r>
              <a:t>• Explainable diagnosis with evidence</a:t>
            </a:r>
          </a:p>
          <a:p>
            <a:pPr>
              <a:spcAft>
                <a:spcPts val="1200"/>
              </a:spcAft>
              <a:defRPr sz="1800"/>
            </a:pPr>
            <a:r>
              <a:t>• Human-in-the-loop for safety</a:t>
            </a:r>
          </a:p>
          <a:p>
            <a:pPr>
              <a:spcAft>
                <a:spcPts val="1200"/>
              </a:spcAft>
              <a:defRPr sz="1800"/>
            </a:pPr>
            <a:r>
              <a:t>• Extensible (rules, RAG, Salesforce)</a:t>
            </a:r>
          </a:p>
          <a:p>
            <a:pPr>
              <a:spcAft>
                <a:spcPts val="1200"/>
              </a:spcAft>
              <a:defRPr sz="1800"/>
            </a:pPr>
            <a:r>
              <a:t>• Reproducible scenarios for evaluation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Evaluation &amp;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Detection latency: fault injection → first alert</a:t>
            </a:r>
          </a:p>
          <a:p>
            <a:pPr>
              <a:spcAft>
                <a:spcPts val="1200"/>
              </a:spcAft>
              <a:defRPr sz="1800"/>
            </a:pPr>
            <a:r>
              <a:t>• Precision/recall: event-level (truth.fault != none)</a:t>
            </a:r>
          </a:p>
          <a:p>
            <a:pPr>
              <a:spcAft>
                <a:spcPts val="1200"/>
              </a:spcAft>
              <a:defRPr sz="1800"/>
            </a:pPr>
            <a:r>
              <a:t>• Ticket creation latency: diagnosis → ticket</a:t>
            </a:r>
          </a:p>
          <a:p>
            <a:pPr>
              <a:spcAft>
                <a:spcPts val="1200"/>
              </a:spcAft>
              <a:defRPr sz="1800"/>
            </a:pPr>
            <a:r>
              <a:t>• False positive rate (planned)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Lessons Learned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Multi-agent design enables modularity and scalability</a:t>
            </a:r>
          </a:p>
          <a:p>
            <a:pPr>
              <a:spcAft>
                <a:spcPts val="1200"/>
              </a:spcAft>
              <a:defRPr sz="1800"/>
            </a:pPr>
            <a:r>
              <a:t>• MQTT simplifies real-time event streaming</a:t>
            </a:r>
          </a:p>
          <a:p>
            <a:pPr>
              <a:spcAft>
                <a:spcPts val="1200"/>
              </a:spcAft>
              <a:defRPr sz="1800"/>
            </a:pPr>
            <a:r>
              <a:t>• Rules + LLM balances interpretability and flexibility</a:t>
            </a:r>
          </a:p>
          <a:p>
            <a:pPr>
              <a:spcAft>
                <a:spcPts val="1200"/>
              </a:spcAft>
              <a:defRPr sz="1800"/>
            </a:pPr>
            <a:r>
              <a:t>• Human review is essential for industrial applications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Evaluation metrics: precision, recall, latency</a:t>
            </a:r>
          </a:p>
          <a:p>
            <a:pPr>
              <a:spcAft>
                <a:spcPts val="1200"/>
              </a:spcAft>
              <a:defRPr sz="1800"/>
            </a:pPr>
            <a:r>
              <a:t>• Fine-tuning LLM on diagnosis data</a:t>
            </a:r>
          </a:p>
          <a:p>
            <a:pPr>
              <a:spcAft>
                <a:spcPts val="1200"/>
              </a:spcAft>
              <a:defRPr sz="1800"/>
            </a:pPr>
            <a:r>
              <a:t>• Multi-asset dashboard enhancements</a:t>
            </a:r>
          </a:p>
          <a:p>
            <a:pPr>
              <a:spcAft>
                <a:spcPts val="1200"/>
              </a:spcAft>
              <a:defRPr sz="1800"/>
            </a:pPr>
            <a:r>
              <a:t>• Grafana integration for metrics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• Multi-agent system for powerplant monitoring</a:t>
            </a:r>
          </a:p>
          <a:p>
            <a:pPr>
              <a:spcAft>
                <a:spcPts val="1200"/>
              </a:spcAft>
              <a:defRPr sz="1800"/>
            </a:pPr>
            <a:r>
              <a:t>• Real-time anomaly detection → RCA → ticket → human review</a:t>
            </a:r>
          </a:p>
          <a:p>
            <a:pPr>
              <a:spcAft>
                <a:spcPts val="1200"/>
              </a:spcAft>
              <a:defRPr sz="1800"/>
            </a:pPr>
            <a:r>
              <a:t>• Combines rules, LLM, RAG, and external integrations</a:t>
            </a:r>
          </a:p>
          <a:p>
            <a:pPr>
              <a:spcAft>
                <a:spcPts val="1200"/>
              </a:spcAft>
              <a:defRPr sz="1800"/>
            </a:pPr>
            <a:r>
              <a:t>• Practical, extensible, and explainable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Q &amp;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/>
            </a:pPr>
            <a:r>
              <a:t>Thank you!</a:t>
            </a:r>
          </a:p>
          <a:p>
            <a:pPr>
              <a:spcAft>
                <a:spcPts val="1200"/>
              </a:spcAft>
              <a:defRPr sz="1800"/>
            </a:pPr>
            <a:endParaRPr/>
          </a:p>
          <a:p>
            <a:pPr>
              <a:spcAft>
                <a:spcPts val="1200"/>
              </a:spcAft>
              <a:defRPr sz="1800"/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1241</Words>
  <Application>Microsoft Macintosh PowerPoint</Application>
  <PresentationFormat>On-screen Show (4:3)</PresentationFormat>
  <Paragraphs>158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HAOJI BIAN</cp:lastModifiedBy>
  <cp:revision>2</cp:revision>
  <dcterms:created xsi:type="dcterms:W3CDTF">2013-01-27T09:14:16Z</dcterms:created>
  <dcterms:modified xsi:type="dcterms:W3CDTF">2026-02-24T18:57:46Z</dcterms:modified>
  <cp:category/>
</cp:coreProperties>
</file>